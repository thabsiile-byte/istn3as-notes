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77" r:id="rId5"/>
    <p:sldId id="349" r:id="rId6"/>
    <p:sldId id="325" r:id="rId7"/>
    <p:sldId id="326" r:id="rId8"/>
    <p:sldId id="328" r:id="rId9"/>
    <p:sldId id="321" r:id="rId10"/>
    <p:sldId id="322" r:id="rId11"/>
    <p:sldId id="330" r:id="rId12"/>
    <p:sldId id="331" r:id="rId13"/>
    <p:sldId id="332" r:id="rId14"/>
    <p:sldId id="333" r:id="rId15"/>
    <p:sldId id="347" r:id="rId16"/>
    <p:sldId id="348" r:id="rId17"/>
    <p:sldId id="334" r:id="rId18"/>
    <p:sldId id="335" r:id="rId19"/>
    <p:sldId id="336" r:id="rId20"/>
    <p:sldId id="337" r:id="rId21"/>
    <p:sldId id="338" r:id="rId22"/>
    <p:sldId id="323" r:id="rId23"/>
    <p:sldId id="339" r:id="rId24"/>
    <p:sldId id="340" r:id="rId25"/>
    <p:sldId id="341" r:id="rId26"/>
    <p:sldId id="342" r:id="rId27"/>
    <p:sldId id="34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408" userDrawn="1">
          <p15:clr>
            <a:srgbClr val="A4A3A4"/>
          </p15:clr>
        </p15:guide>
        <p15:guide id="4" orient="horz" pos="432" userDrawn="1">
          <p15:clr>
            <a:srgbClr val="A4A3A4"/>
          </p15:clr>
        </p15:guide>
        <p15:guide id="5" pos="72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3047"/>
    <a:srgbClr val="0B2B41"/>
    <a:srgbClr val="114263"/>
    <a:srgbClr val="401918"/>
    <a:srgbClr val="731F1C"/>
    <a:srgbClr val="AB678E"/>
    <a:srgbClr val="B2606E"/>
    <a:srgbClr val="CA929B"/>
    <a:srgbClr val="248CD2"/>
    <a:srgbClr val="C88E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03" autoAdjust="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>
        <p:guide orient="horz" pos="2160"/>
        <p:guide pos="3864"/>
        <p:guide pos="408"/>
        <p:guide orient="horz" pos="432"/>
        <p:guide pos="72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D1D01A-5516-4E1C-9A6D-D9EF8C203F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87A2D-9F8F-45E9-B127-C2407E7953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4338A-2C54-48B6-A869-F1523EB17642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15058-9F03-4AC5-A723-3D23E27720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E583C-77B5-479A-A9CA-17DC816BC6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D57C9-54A6-4BAA-A5CD-C535F9370C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3655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205A9-A302-429C-8AB8-C362C4362DF4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F82289-BCFD-4053-9D06-A9140C63A4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475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305EBB3-0F16-4B63-82ED-191AB224B8E2}"/>
              </a:ext>
            </a:extLst>
          </p:cNvPr>
          <p:cNvSpPr/>
          <p:nvPr userDrawn="1"/>
        </p:nvSpPr>
        <p:spPr>
          <a:xfrm>
            <a:off x="6676569" y="0"/>
            <a:ext cx="3522381" cy="6858000"/>
          </a:xfrm>
          <a:custGeom>
            <a:avLst/>
            <a:gdLst>
              <a:gd name="connsiteX0" fmla="*/ 0 w 3522381"/>
              <a:gd name="connsiteY0" fmla="*/ 0 h 6858000"/>
              <a:gd name="connsiteX1" fmla="*/ 3522381 w 3522381"/>
              <a:gd name="connsiteY1" fmla="*/ 0 h 6858000"/>
              <a:gd name="connsiteX2" fmla="*/ 51547 w 3522381"/>
              <a:gd name="connsiteY2" fmla="*/ 6858000 h 6858000"/>
              <a:gd name="connsiteX3" fmla="*/ 0 w 35223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2381" h="6858000">
                <a:moveTo>
                  <a:pt x="0" y="0"/>
                </a:moveTo>
                <a:lnTo>
                  <a:pt x="3522381" y="0"/>
                </a:lnTo>
                <a:lnTo>
                  <a:pt x="5154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440F4A-C2AF-406D-B420-CCF52F447A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6676568" cy="6858000"/>
          </a:xfrm>
        </p:spPr>
        <p:txBody>
          <a:bodyPr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74144" y="1291772"/>
            <a:ext cx="4379976" cy="3611880"/>
          </a:xfrm>
        </p:spPr>
        <p:txBody>
          <a:bodyPr vert="horz" lIns="91440" tIns="45720" rIns="91440" bIns="45720" rtlCol="0" anchor="b" anchorCtr="1">
            <a:noAutofit/>
          </a:bodyPr>
          <a:lstStyle>
            <a:lvl1pPr>
              <a:defRPr lang="en-GB" dirty="0"/>
            </a:lvl1pPr>
          </a:lstStyle>
          <a:p>
            <a:pPr marL="0" lvl="0" algn="ctr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89079" y="5392401"/>
            <a:ext cx="4178808" cy="521208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lang="en-US" sz="1800" dirty="0">
                <a:solidFill>
                  <a:srgbClr val="B2606E"/>
                </a:solidFill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FDB39AB-B644-434A-9D55-AF3455D468E5}"/>
              </a:ext>
            </a:extLst>
          </p:cNvPr>
          <p:cNvGrpSpPr/>
          <p:nvPr userDrawn="1"/>
        </p:nvGrpSpPr>
        <p:grpSpPr>
          <a:xfrm>
            <a:off x="9140346" y="5054600"/>
            <a:ext cx="676275" cy="114300"/>
            <a:chOff x="9330846" y="5054600"/>
            <a:chExt cx="676275" cy="1143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F14E129-1970-4994-89E5-F7A67128AFE3}"/>
                </a:ext>
              </a:extLst>
            </p:cNvPr>
            <p:cNvSpPr/>
            <p:nvPr/>
          </p:nvSpPr>
          <p:spPr>
            <a:xfrm>
              <a:off x="933084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93336FA-97B2-4528-88E8-5FF97F86E216}"/>
                </a:ext>
              </a:extLst>
            </p:cNvPr>
            <p:cNvSpPr/>
            <p:nvPr/>
          </p:nvSpPr>
          <p:spPr>
            <a:xfrm>
              <a:off x="951817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73C166-FCDF-40AE-8B0D-69C7E2C8573E}"/>
                </a:ext>
              </a:extLst>
            </p:cNvPr>
            <p:cNvSpPr/>
            <p:nvPr/>
          </p:nvSpPr>
          <p:spPr>
            <a:xfrm>
              <a:off x="9705496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F418119-E3DD-44B0-A4AF-F8A98EC5863B}"/>
                </a:ext>
              </a:extLst>
            </p:cNvPr>
            <p:cNvSpPr/>
            <p:nvPr/>
          </p:nvSpPr>
          <p:spPr>
            <a:xfrm>
              <a:off x="9892821" y="50546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2420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7CEAAF6-CCA9-40F8-8A3D-FAAD92220D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2" y="0"/>
            <a:ext cx="12192001" cy="6858000"/>
          </a:xfrm>
        </p:spPr>
        <p:txBody>
          <a:bodyPr anchor="ctr" anchorCtr="1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44DE2-A455-46F2-BE15-959050C87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6020" y="2404234"/>
            <a:ext cx="5330038" cy="1746504"/>
          </a:xfrm>
        </p:spPr>
        <p:txBody>
          <a:bodyPr vert="horz" lIns="0" tIns="45720" rIns="0" bIns="45720" rtlCol="0" anchor="b" anchorCtr="1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E4F3-CE8F-41A0-BFDE-76D0DF1DF4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3180" y="4553291"/>
            <a:ext cx="5049510" cy="521208"/>
          </a:xfrm>
        </p:spPr>
        <p:txBody>
          <a:bodyPr vert="horz" lIns="0" tIns="0" rIns="0" bIns="0" rtlCol="0" anchor="t" anchorCtr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77175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62100" y="1733627"/>
            <a:ext cx="8534400" cy="4248073"/>
          </a:xfrm>
        </p:spPr>
        <p:txBody>
          <a:bodyPr vert="horz" wrap="square" lIns="0" tIns="45720" rIns="0" bIns="45720" rtlCol="0" anchor="t">
            <a:noAutofit/>
          </a:bodyPr>
          <a:lstStyle>
            <a:lvl1pPr>
              <a:defRPr lang="en-US" sz="14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noProof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108158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7700" y="1733627"/>
            <a:ext cx="548640" cy="54864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Icon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0AC1958-0DCB-4970-ADE3-E64DAAFC501D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E71A8D8-5A28-4968-9E80-110E9CB88F92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239C02C-1FAD-4E73-AB32-5A30A946A447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F40D550-A563-4E50-AEE9-6D9D19499F9F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47A4EEE-49CE-4F6C-BF32-B7FCC5EBBF45}" type="slidenum">
              <a:rPr lang="en-US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en-US" sz="12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657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265539"/>
            <a:ext cx="10815864" cy="556498"/>
          </a:xfrm>
          <a:solidFill>
            <a:schemeClr val="accent2">
              <a:lumMod val="25000"/>
              <a:lumOff val="75000"/>
            </a:schemeClr>
          </a:solidFill>
        </p:spPr>
        <p:txBody>
          <a:bodyPr vert="horz" wrap="square" lIns="0" tIns="45720" rIns="91440" bIns="45720" rtlCol="0" anchor="t">
            <a:noAutofit/>
          </a:bodyPr>
          <a:lstStyle>
            <a:lvl1pPr algn="ctr">
              <a:defRPr lang="en-GB" sz="2400" b="1" u="sng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9AE304-DA92-45D8-B258-61BEA6C99C0E}"/>
              </a:ext>
            </a:extLst>
          </p:cNvPr>
          <p:cNvGrpSpPr/>
          <p:nvPr userDrawn="1"/>
        </p:nvGrpSpPr>
        <p:grpSpPr>
          <a:xfrm>
            <a:off x="0" y="6086479"/>
            <a:ext cx="12192000" cy="600974"/>
            <a:chOff x="0" y="6086479"/>
            <a:chExt cx="12192000" cy="60097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F91D02-B4A9-4013-94B6-079A8D06DE11}"/>
                </a:ext>
              </a:extLst>
            </p:cNvPr>
            <p:cNvSpPr/>
            <p:nvPr/>
          </p:nvSpPr>
          <p:spPr>
            <a:xfrm>
              <a:off x="0" y="6355760"/>
              <a:ext cx="12192000" cy="91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4DAC864-782A-48D4-8E15-9B35C60421BB}"/>
                </a:ext>
              </a:extLst>
            </p:cNvPr>
            <p:cNvSpPr/>
            <p:nvPr/>
          </p:nvSpPr>
          <p:spPr>
            <a:xfrm>
              <a:off x="11091210" y="6086479"/>
              <a:ext cx="600974" cy="60097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3B7B0E2-E4FA-4B45-89A6-98E4C4DC1D24}"/>
              </a:ext>
            </a:extLst>
          </p:cNvPr>
          <p:cNvSpPr txBox="1">
            <a:spLocks/>
          </p:cNvSpPr>
          <p:nvPr userDrawn="1"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47A4EEE-49CE-4F6C-BF32-B7FCC5EBBF45}" type="slidenum">
              <a:rPr lang="en-US" sz="1200" noProof="0" smtClean="0">
                <a:solidFill>
                  <a:schemeClr val="bg1"/>
                </a:solidFill>
              </a:rPr>
              <a:pPr algn="ctr"/>
              <a:t>‹#›</a:t>
            </a:fld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7BBA6D3-FEB9-412B-8FBB-095FC3A60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86" y="1091318"/>
            <a:ext cx="10815864" cy="5085645"/>
          </a:xfrm>
        </p:spPr>
        <p:txBody>
          <a:bodyPr>
            <a:normAutofit/>
          </a:bodyPr>
          <a:lstStyle>
            <a:lvl1pPr>
              <a:defRPr sz="4800"/>
            </a:lvl1pPr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002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F2147C-DDBF-4431-95AC-650CCE32F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tx1"/>
                </a:solidFill>
              </a:defRPr>
            </a:lvl1pPr>
          </a:lstStyle>
          <a:p>
            <a:pPr algn="ctr"/>
            <a:fld id="{817179DE-9BF3-494C-804F-0C7C90AC8700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C3681-351A-40D9-8C08-632E9823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CEF16-92A3-4A77-B95D-A9DB52319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677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8" r:id="rId3"/>
    <p:sldLayoutId id="214748367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group of students at a table studying in the library">
            <a:extLst>
              <a:ext uri="{FF2B5EF4-FFF2-40B4-BE49-F238E27FC236}">
                <a16:creationId xmlns:a16="http://schemas.microsoft.com/office/drawing/2014/main" id="{1A5F02FB-FDF1-427A-AB2F-50F09EBEE54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96D2D9B-E0B9-499F-9404-108DB59E4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6957056" cy="6858000"/>
            <a:chOff x="0" y="0"/>
            <a:chExt cx="6957056" cy="6858000"/>
          </a:xfrm>
        </p:grpSpPr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7E2E6584-76E9-4C56-A349-C9CDC96DC5F0}"/>
                </a:ext>
              </a:extLst>
            </p:cNvPr>
            <p:cNvSpPr/>
            <p:nvPr/>
          </p:nvSpPr>
          <p:spPr>
            <a:xfrm>
              <a:off x="1150750" y="0"/>
              <a:ext cx="5491804" cy="6858000"/>
            </a:xfrm>
            <a:prstGeom prst="parallelogram">
              <a:avLst>
                <a:gd name="adj" fmla="val 32713"/>
              </a:avLst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73F00D5-E18D-4210-AD3E-3ED73CEE4865}"/>
                </a:ext>
              </a:extLst>
            </p:cNvPr>
            <p:cNvSpPr/>
            <p:nvPr/>
          </p:nvSpPr>
          <p:spPr>
            <a:xfrm flipH="1" flipV="1">
              <a:off x="0" y="482600"/>
              <a:ext cx="6957056" cy="5892799"/>
            </a:xfrm>
            <a:custGeom>
              <a:avLst/>
              <a:gdLst>
                <a:gd name="connsiteX0" fmla="*/ 6957056 w 6957056"/>
                <a:gd name="connsiteY0" fmla="*/ 5892799 h 5892799"/>
                <a:gd name="connsiteX1" fmla="*/ 0 w 6957056"/>
                <a:gd name="connsiteY1" fmla="*/ 5892799 h 5892799"/>
                <a:gd name="connsiteX2" fmla="*/ 1473200 w 6957056"/>
                <a:gd name="connsiteY2" fmla="*/ 0 h 5892799"/>
                <a:gd name="connsiteX3" fmla="*/ 6957056 w 6957056"/>
                <a:gd name="connsiteY3" fmla="*/ 0 h 589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7056" h="5892799">
                  <a:moveTo>
                    <a:pt x="6957056" y="5892799"/>
                  </a:moveTo>
                  <a:lnTo>
                    <a:pt x="0" y="5892799"/>
                  </a:lnTo>
                  <a:lnTo>
                    <a:pt x="1473200" y="0"/>
                  </a:lnTo>
                  <a:lnTo>
                    <a:pt x="6957056" y="0"/>
                  </a:lnTo>
                  <a:close/>
                </a:path>
              </a:pathLst>
            </a:custGeom>
            <a:solidFill>
              <a:schemeClr val="accent2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77883-A694-450C-A2C7-C9C8A85D9915}"/>
                </a:ext>
              </a:extLst>
            </p:cNvPr>
            <p:cNvSpPr/>
            <p:nvPr/>
          </p:nvSpPr>
          <p:spPr>
            <a:xfrm flipH="1" flipV="1">
              <a:off x="0" y="4457696"/>
              <a:ext cx="6267450" cy="883839"/>
            </a:xfrm>
            <a:custGeom>
              <a:avLst/>
              <a:gdLst>
                <a:gd name="connsiteX0" fmla="*/ 6267450 w 6267450"/>
                <a:gd name="connsiteY0" fmla="*/ 883839 h 883839"/>
                <a:gd name="connsiteX1" fmla="*/ 0 w 6267450"/>
                <a:gd name="connsiteY1" fmla="*/ 883839 h 883839"/>
                <a:gd name="connsiteX2" fmla="*/ 220960 w 6267450"/>
                <a:gd name="connsiteY2" fmla="*/ 0 h 883839"/>
                <a:gd name="connsiteX3" fmla="*/ 6267450 w 6267450"/>
                <a:gd name="connsiteY3" fmla="*/ 0 h 88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7450" h="883839">
                  <a:moveTo>
                    <a:pt x="6267450" y="883839"/>
                  </a:moveTo>
                  <a:lnTo>
                    <a:pt x="0" y="883839"/>
                  </a:lnTo>
                  <a:lnTo>
                    <a:pt x="220960" y="0"/>
                  </a:lnTo>
                  <a:lnTo>
                    <a:pt x="626745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1" name="Title 30" descr="title">
            <a:extLst>
              <a:ext uri="{FF2B5EF4-FFF2-40B4-BE49-F238E27FC236}">
                <a16:creationId xmlns:a16="http://schemas.microsoft.com/office/drawing/2014/main" id="{9284195F-D106-45D8-ABAA-959FA68948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Windows Forms- DB Processing </a:t>
            </a:r>
          </a:p>
        </p:txBody>
      </p:sp>
      <p:sp>
        <p:nvSpPr>
          <p:cNvPr id="12" name="Subtitle 11" descr="subtitle">
            <a:extLst>
              <a:ext uri="{FF2B5EF4-FFF2-40B4-BE49-F238E27FC236}">
                <a16:creationId xmlns:a16="http://schemas.microsoft.com/office/drawing/2014/main" id="{A6AB5563-AD44-4883-8D3E-93E27EEDAA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Recording the Main Transaction and the Inner Details of a Transaction for a Book Shop</a:t>
            </a:r>
          </a:p>
        </p:txBody>
      </p:sp>
    </p:spTree>
    <p:extLst>
      <p:ext uri="{BB962C8B-B14F-4D97-AF65-F5344CB8AC3E}">
        <p14:creationId xmlns:p14="http://schemas.microsoft.com/office/powerpoint/2010/main" val="2366578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496156-E5A2-44AC-BF60-25C724389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About these notes!!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CCA311-B13A-4B12-A7A4-6C7BC27F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These notes contain a demonstration of how to:</a:t>
            </a:r>
          </a:p>
          <a:p>
            <a:pPr lvl="1"/>
            <a:r>
              <a:rPr lang="en-ZA" dirty="0"/>
              <a:t> record a main Order transaction for a point of sale system (slides 1-16 – also provides a </a:t>
            </a:r>
            <a:r>
              <a:rPr lang="en-ZA" i="1" dirty="0" err="1">
                <a:solidFill>
                  <a:srgbClr val="7030A0"/>
                </a:solidFill>
              </a:rPr>
              <a:t>soln</a:t>
            </a:r>
            <a:r>
              <a:rPr lang="en-ZA" i="1" dirty="0">
                <a:solidFill>
                  <a:srgbClr val="7030A0"/>
                </a:solidFill>
              </a:rPr>
              <a:t> to </a:t>
            </a:r>
            <a:r>
              <a:rPr lang="en-ZA" i="1" dirty="0" err="1">
                <a:solidFill>
                  <a:srgbClr val="7030A0"/>
                </a:solidFill>
              </a:rPr>
              <a:t>prac</a:t>
            </a:r>
            <a:r>
              <a:rPr lang="en-ZA" i="1" dirty="0">
                <a:solidFill>
                  <a:srgbClr val="7030A0"/>
                </a:solidFill>
              </a:rPr>
              <a:t> 6 </a:t>
            </a:r>
            <a:r>
              <a:rPr lang="en-ZA" dirty="0"/>
              <a:t>– prototype test </a:t>
            </a:r>
            <a:r>
              <a:rPr lang="en-ZA" dirty="0" err="1"/>
              <a:t>prac</a:t>
            </a:r>
            <a:r>
              <a:rPr lang="en-ZA" dirty="0"/>
              <a:t>)</a:t>
            </a:r>
          </a:p>
          <a:p>
            <a:pPr lvl="1"/>
            <a:r>
              <a:rPr lang="en-ZA" dirty="0"/>
              <a:t>Record the inner details of a transaction (not required for the test but certainly required for the Major Project)</a:t>
            </a:r>
          </a:p>
          <a:p>
            <a:pPr lvl="1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8386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8929" y="1040017"/>
            <a:ext cx="11250706" cy="830997"/>
          </a:xfrm>
        </p:spPr>
        <p:txBody>
          <a:bodyPr/>
          <a:lstStyle/>
          <a:p>
            <a:r>
              <a:rPr lang="en-ZA" sz="2000" b="1" dirty="0">
                <a:solidFill>
                  <a:srgbClr val="C00000"/>
                </a:solidFill>
              </a:rPr>
              <a:t>The demonstration of the recording of the Inner Detail of a Transaction will be demonstrated via a Book App that is designed to record the sale of books; in this app the Customer details are not required</a:t>
            </a:r>
          </a:p>
          <a:p>
            <a:r>
              <a:rPr lang="en-ZA" sz="2000" b="1" dirty="0">
                <a:solidFill>
                  <a:srgbClr val="C00000"/>
                </a:solidFill>
              </a:rPr>
              <a:t>The Book App consists of  the following dataset structure:</a:t>
            </a:r>
          </a:p>
          <a:p>
            <a:endParaRPr lang="en-ZA" sz="1800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Book Sale 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A3EA5-3613-44DF-9EF6-CA6323B4C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210" y="2206102"/>
            <a:ext cx="8443692" cy="2415749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23FDB63-1218-4F85-A16D-9BECA96036A2}"/>
              </a:ext>
            </a:extLst>
          </p:cNvPr>
          <p:cNvSpPr txBox="1">
            <a:spLocks/>
          </p:cNvSpPr>
          <p:nvPr/>
        </p:nvSpPr>
        <p:spPr>
          <a:xfrm>
            <a:off x="293567" y="4651898"/>
            <a:ext cx="11250706" cy="830997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2000" b="1" dirty="0">
                <a:solidFill>
                  <a:srgbClr val="C00000"/>
                </a:solidFill>
              </a:rPr>
              <a:t>Book Order are placed – and each Order consist of many Order Details and each </a:t>
            </a:r>
            <a:r>
              <a:rPr lang="en-ZA" sz="2000" b="1" dirty="0" err="1">
                <a:solidFill>
                  <a:srgbClr val="C00000"/>
                </a:solidFill>
              </a:rPr>
              <a:t>OrderDetail</a:t>
            </a:r>
            <a:r>
              <a:rPr lang="en-ZA" sz="2000" b="1" dirty="0">
                <a:solidFill>
                  <a:srgbClr val="C00000"/>
                </a:solidFill>
              </a:rPr>
              <a:t> references a single book – we will not implement the relationship in the database (for convenience of avoiding database generated errors)</a:t>
            </a:r>
          </a:p>
          <a:p>
            <a:endParaRPr lang="en-ZA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081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1"/>
            <a:ext cx="11250706" cy="1757081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Consists of many bits of functionality that is quite self-explanatory – the interface has options to: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Search for a Book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Update Book Stock (QOH)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Add items to an Invoice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Generate the total Amt owing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Record the full Sale</a:t>
            </a:r>
          </a:p>
          <a:p>
            <a:pPr lvl="2"/>
            <a:r>
              <a:rPr lang="en-ZA" b="1" dirty="0" err="1">
                <a:solidFill>
                  <a:srgbClr val="C00000"/>
                </a:solidFill>
              </a:rPr>
              <a:t>i.e</a:t>
            </a:r>
            <a:r>
              <a:rPr lang="en-ZA" b="1" dirty="0">
                <a:solidFill>
                  <a:srgbClr val="C00000"/>
                </a:solidFill>
              </a:rPr>
              <a:t> the total Sale Amt and Date</a:t>
            </a:r>
          </a:p>
          <a:p>
            <a:pPr lvl="2"/>
            <a:r>
              <a:rPr lang="en-ZA" b="1" dirty="0">
                <a:solidFill>
                  <a:srgbClr val="C00000"/>
                </a:solidFill>
              </a:rPr>
              <a:t>The details of books that will be </a:t>
            </a:r>
            <a:br>
              <a:rPr lang="en-ZA" b="1" dirty="0">
                <a:solidFill>
                  <a:srgbClr val="C00000"/>
                </a:solidFill>
              </a:rPr>
            </a:br>
            <a:r>
              <a:rPr lang="en-ZA" b="1" dirty="0">
                <a:solidFill>
                  <a:srgbClr val="C00000"/>
                </a:solidFill>
              </a:rPr>
              <a:t>purchased</a:t>
            </a:r>
          </a:p>
          <a:p>
            <a:pPr lvl="2"/>
            <a:r>
              <a:rPr lang="en-ZA" b="1" dirty="0">
                <a:solidFill>
                  <a:srgbClr val="C00000"/>
                </a:solidFill>
              </a:rPr>
              <a:t>Also, you can remove individual </a:t>
            </a:r>
            <a:br>
              <a:rPr lang="en-ZA" b="1" dirty="0">
                <a:solidFill>
                  <a:srgbClr val="C00000"/>
                </a:solidFill>
              </a:rPr>
            </a:br>
            <a:r>
              <a:rPr lang="en-ZA" b="1" dirty="0">
                <a:solidFill>
                  <a:srgbClr val="C00000"/>
                </a:solidFill>
              </a:rPr>
              <a:t>items from the Invoice as well as</a:t>
            </a:r>
            <a:br>
              <a:rPr lang="en-ZA" b="1" dirty="0">
                <a:solidFill>
                  <a:srgbClr val="C00000"/>
                </a:solidFill>
              </a:rPr>
            </a:br>
            <a:r>
              <a:rPr lang="en-ZA" b="1" dirty="0">
                <a:solidFill>
                  <a:srgbClr val="C00000"/>
                </a:solidFill>
              </a:rPr>
              <a:t>all invoice item</a:t>
            </a:r>
          </a:p>
          <a:p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050D4-A559-433A-A3D4-96C5622F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141" y="1733547"/>
            <a:ext cx="6104965" cy="423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89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5916706" cy="4948516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Update can be done in many ways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Via the Database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Via programming code</a:t>
            </a:r>
          </a:p>
          <a:p>
            <a:r>
              <a:rPr lang="en-ZA" b="1" dirty="0">
                <a:solidFill>
                  <a:srgbClr val="C00000"/>
                </a:solidFill>
              </a:rPr>
              <a:t>We will write methods on the table adapter to: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Search for a Book 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SELECT </a:t>
            </a:r>
            <a:r>
              <a:rPr lang="en-US" b="1" i="1" dirty="0" err="1">
                <a:solidFill>
                  <a:srgbClr val="C00000"/>
                </a:solidFill>
              </a:rPr>
              <a:t>BookTitle</a:t>
            </a:r>
            <a:r>
              <a:rPr lang="en-US" b="1" i="1" dirty="0">
                <a:solidFill>
                  <a:srgbClr val="C00000"/>
                </a:solidFill>
              </a:rPr>
              <a:t>, </a:t>
            </a:r>
            <a:r>
              <a:rPr lang="en-US" b="1" i="1" dirty="0" err="1">
                <a:solidFill>
                  <a:srgbClr val="C00000"/>
                </a:solidFill>
              </a:rPr>
              <a:t>BookCost</a:t>
            </a:r>
            <a:r>
              <a:rPr lang="en-US" b="1" i="1" dirty="0">
                <a:solidFill>
                  <a:srgbClr val="C00000"/>
                </a:solidFill>
              </a:rPr>
              <a:t>, QOH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FROM     Book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WHERE  (</a:t>
            </a:r>
            <a:r>
              <a:rPr lang="en-US" b="1" i="1" dirty="0" err="1">
                <a:solidFill>
                  <a:srgbClr val="C00000"/>
                </a:solidFill>
              </a:rPr>
              <a:t>BookTitle</a:t>
            </a:r>
            <a:r>
              <a:rPr lang="en-US" b="1" i="1" dirty="0">
                <a:solidFill>
                  <a:srgbClr val="C00000"/>
                </a:solidFill>
              </a:rPr>
              <a:t> LIKE + '%' + @title + '%')</a:t>
            </a:r>
            <a:endParaRPr lang="en-ZA" b="1" i="1" dirty="0">
              <a:solidFill>
                <a:srgbClr val="C00000"/>
              </a:solidFill>
            </a:endParaRP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Update the Stock of the book 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UPDATE Book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SET          QOH = QOH + @QOH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WHERE  (</a:t>
            </a:r>
            <a:r>
              <a:rPr lang="en-US" b="1" i="1" dirty="0" err="1">
                <a:solidFill>
                  <a:srgbClr val="C00000"/>
                </a:solidFill>
              </a:rPr>
              <a:t>BookTitle</a:t>
            </a:r>
            <a:r>
              <a:rPr lang="en-US" b="1" i="1" dirty="0">
                <a:solidFill>
                  <a:srgbClr val="C00000"/>
                </a:solidFill>
              </a:rPr>
              <a:t> = @</a:t>
            </a:r>
            <a:r>
              <a:rPr lang="en-US" b="1" i="1" dirty="0" err="1">
                <a:solidFill>
                  <a:srgbClr val="C00000"/>
                </a:solidFill>
              </a:rPr>
              <a:t>Original_BookTitle</a:t>
            </a:r>
            <a:r>
              <a:rPr lang="en-US" b="1" i="1" dirty="0">
                <a:solidFill>
                  <a:srgbClr val="C00000"/>
                </a:solidFill>
              </a:rPr>
              <a:t>); </a:t>
            </a:r>
            <a:endParaRPr lang="en-ZA" b="1" i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Search and Update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A1AFE8-28D9-4916-9B0D-222662842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444" y="1762373"/>
            <a:ext cx="4709568" cy="20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7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8612" y="5386636"/>
            <a:ext cx="11250706" cy="591669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Add a </a:t>
            </a:r>
            <a:r>
              <a:rPr lang="en-ZA" b="1" dirty="0" err="1">
                <a:solidFill>
                  <a:srgbClr val="C00000"/>
                </a:solidFill>
              </a:rPr>
              <a:t>DataTable</a:t>
            </a:r>
            <a:r>
              <a:rPr lang="en-ZA" b="1" dirty="0">
                <a:solidFill>
                  <a:srgbClr val="C00000"/>
                </a:solidFill>
              </a:rPr>
              <a:t> to the </a:t>
            </a:r>
            <a:r>
              <a:rPr lang="en-ZA" b="1" dirty="0" err="1">
                <a:solidFill>
                  <a:srgbClr val="C00000"/>
                </a:solidFill>
              </a:rPr>
              <a:t>DataSet</a:t>
            </a:r>
            <a:r>
              <a:rPr lang="en-ZA" b="1" dirty="0">
                <a:solidFill>
                  <a:srgbClr val="C00000"/>
                </a:solidFill>
              </a:rPr>
              <a:t> and name it Invoice – add on 2 columns (string and decimal) - The </a:t>
            </a:r>
            <a:r>
              <a:rPr lang="en-ZA" b="1" dirty="0" err="1">
                <a:solidFill>
                  <a:srgbClr val="C00000"/>
                </a:solidFill>
              </a:rPr>
              <a:t>BookTitle</a:t>
            </a:r>
            <a:r>
              <a:rPr lang="en-ZA" b="1" dirty="0">
                <a:solidFill>
                  <a:srgbClr val="C00000"/>
                </a:solidFill>
              </a:rPr>
              <a:t> and </a:t>
            </a:r>
            <a:r>
              <a:rPr lang="en-ZA" b="1" dirty="0" err="1">
                <a:solidFill>
                  <a:srgbClr val="C00000"/>
                </a:solidFill>
              </a:rPr>
              <a:t>BookCost</a:t>
            </a:r>
            <a:r>
              <a:rPr lang="en-ZA" b="1" dirty="0">
                <a:solidFill>
                  <a:srgbClr val="C00000"/>
                </a:solidFill>
              </a:rPr>
              <a:t> data columns are added on – you need to ensure that the data types match those shown in the Book Table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An Invoice </a:t>
            </a:r>
            <a:r>
              <a:rPr lang="en-ZA" b="1" u="sng" dirty="0" err="1"/>
              <a:t>DataTable</a:t>
            </a:r>
            <a:endParaRPr lang="en-ZA" b="1" u="sng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410F49D-7B94-41F7-9CF1-741347CBF472}"/>
              </a:ext>
            </a:extLst>
          </p:cNvPr>
          <p:cNvGrpSpPr/>
          <p:nvPr/>
        </p:nvGrpSpPr>
        <p:grpSpPr>
          <a:xfrm>
            <a:off x="1398494" y="1471364"/>
            <a:ext cx="8507506" cy="3915272"/>
            <a:chOff x="1398494" y="1471364"/>
            <a:chExt cx="8507506" cy="391527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E91CB2A-C305-4E2A-BEA1-4E991CB91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8494" y="1471364"/>
              <a:ext cx="8507506" cy="3773909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1A58C98-B5F0-4B46-B310-C1716BA881D7}"/>
                </a:ext>
              </a:extLst>
            </p:cNvPr>
            <p:cNvCxnSpPr/>
            <p:nvPr/>
          </p:nvCxnSpPr>
          <p:spPr>
            <a:xfrm flipV="1">
              <a:off x="1901952" y="4453128"/>
              <a:ext cx="1591056" cy="9335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2996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4249" y="4231342"/>
            <a:ext cx="11250706" cy="510987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Use the adapters to generate adapter object that can be linked to the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Rebuild the Application to get the Data Adapters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25FC32-8F5B-444A-B03E-A9D3DF3E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5" y="1095790"/>
            <a:ext cx="11949953" cy="264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62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761999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The code required here is to fill the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with Book Data and to provide a dynamic search option. The code is quite trivial because the SQL functionality has been written on the </a:t>
            </a:r>
            <a:r>
              <a:rPr lang="en-ZA" b="1" dirty="0" err="1">
                <a:solidFill>
                  <a:srgbClr val="C00000"/>
                </a:solidFill>
              </a:rPr>
              <a:t>DataTable</a:t>
            </a:r>
            <a:r>
              <a:rPr lang="en-ZA" b="1" dirty="0">
                <a:solidFill>
                  <a:srgbClr val="C00000"/>
                </a:solidFill>
              </a:rPr>
              <a:t> inside the </a:t>
            </a:r>
            <a:r>
              <a:rPr lang="en-ZA" b="1" dirty="0" err="1">
                <a:solidFill>
                  <a:srgbClr val="C00000"/>
                </a:solidFill>
              </a:rPr>
              <a:t>DataSet</a:t>
            </a:r>
            <a:r>
              <a:rPr lang="en-ZA" b="1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Book Data and the Book 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1D805A-D1A1-4EA2-9266-FEE2312B55C1}"/>
              </a:ext>
            </a:extLst>
          </p:cNvPr>
          <p:cNvSpPr/>
          <p:nvPr/>
        </p:nvSpPr>
        <p:spPr>
          <a:xfrm>
            <a:off x="430306" y="1577405"/>
            <a:ext cx="8901953" cy="258532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Form1_Load(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TABook1.Fill(dsBookApp1.Book);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ZA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txtBookName_TextChanged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TABook1.FillByBookName(dsBookApp1.Book,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txtBookName.Text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4587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510987"/>
          </a:xfrm>
        </p:spPr>
        <p:txBody>
          <a:bodyPr/>
          <a:lstStyle/>
          <a:p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Display and 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48161-A2ED-4D51-B326-C21556889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44" y="1030943"/>
            <a:ext cx="5694837" cy="5038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AF4159-9C70-46E1-BE51-910BC0DDF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825" y="1165410"/>
            <a:ext cx="5662244" cy="414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6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830997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The functionality has already been created on the </a:t>
            </a:r>
            <a:r>
              <a:rPr lang="en-ZA" b="1" dirty="0" err="1">
                <a:solidFill>
                  <a:srgbClr val="C00000"/>
                </a:solidFill>
              </a:rPr>
              <a:t>DataTable</a:t>
            </a:r>
            <a:r>
              <a:rPr lang="en-ZA" b="1" dirty="0">
                <a:solidFill>
                  <a:srgbClr val="C00000"/>
                </a:solidFill>
              </a:rPr>
              <a:t> (See slide 4) – we simply have to invoke the method and the update will take place</a:t>
            </a:r>
          </a:p>
          <a:p>
            <a:r>
              <a:rPr lang="en-ZA" b="1" dirty="0">
                <a:solidFill>
                  <a:srgbClr val="C00000"/>
                </a:solidFill>
              </a:rPr>
              <a:t>Also, once the update occurs, you have to refresh the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(by filling in all the rows again to see the updated effect)</a:t>
            </a:r>
          </a:p>
          <a:p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Let us also do the Update of Stock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43C4A6-53B5-4003-8728-4F04B0AA5501}"/>
              </a:ext>
            </a:extLst>
          </p:cNvPr>
          <p:cNvSpPr/>
          <p:nvPr/>
        </p:nvSpPr>
        <p:spPr>
          <a:xfrm>
            <a:off x="259975" y="1859340"/>
            <a:ext cx="11797554" cy="1477328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btnStock_Click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taBook1.UpDateBookStock(</a:t>
            </a:r>
            <a:r>
              <a:rPr lang="en-ZA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.ToInt32(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txtStockAmt.Text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dgvBook.CurrentRow.Cells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[0].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Value.ToString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  <a:endParaRPr lang="en-ZA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taBook1.FillByBookName(dsBookApp1.Book,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txtBookName.Text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B12E8A0-E75E-4D1D-9E8B-E7C2FB0D00F6}"/>
              </a:ext>
            </a:extLst>
          </p:cNvPr>
          <p:cNvSpPr txBox="1">
            <a:spLocks/>
          </p:cNvSpPr>
          <p:nvPr/>
        </p:nvSpPr>
        <p:spPr>
          <a:xfrm>
            <a:off x="470647" y="3370129"/>
            <a:ext cx="11250706" cy="394446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rgbClr val="C00000"/>
                </a:solidFill>
              </a:rPr>
              <a:t>The update logic is that for the current row, the QOH will be increased/decreased by the amount entered (-</a:t>
            </a:r>
            <a:r>
              <a:rPr lang="en-ZA" b="1" dirty="0" err="1">
                <a:solidFill>
                  <a:srgbClr val="C00000"/>
                </a:solidFill>
              </a:rPr>
              <a:t>ve</a:t>
            </a:r>
            <a:r>
              <a:rPr lang="en-ZA" b="1" dirty="0">
                <a:solidFill>
                  <a:srgbClr val="C00000"/>
                </a:solidFill>
              </a:rPr>
              <a:t> amount means decrease) – so if you enter 5 when the cursor is placed in the row for the book named “C# Journey”, then the QOH will change to 30 and the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updates and shows the new value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1D7841-7919-4A19-85E8-5492D6D8D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88" y="3764575"/>
            <a:ext cx="3283358" cy="2318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827C55-634F-4C76-8942-96A46BD59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479" y="3760842"/>
            <a:ext cx="3646433" cy="24019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F938618-9DCD-4A6F-BA1B-41D220385EEA}"/>
              </a:ext>
            </a:extLst>
          </p:cNvPr>
          <p:cNvSpPr/>
          <p:nvPr/>
        </p:nvSpPr>
        <p:spPr>
          <a:xfrm>
            <a:off x="7643912" y="4159021"/>
            <a:ext cx="4413617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3663" lvl="1"/>
            <a:r>
              <a:rPr lang="en-ZA" b="1" dirty="0">
                <a:solidFill>
                  <a:srgbClr val="C00000"/>
                </a:solidFill>
              </a:rPr>
              <a:t>Update the Stock of the book </a:t>
            </a:r>
          </a:p>
          <a:p>
            <a:pPr marL="93663" lvl="2"/>
            <a:r>
              <a:rPr lang="en-US" b="1" i="1" dirty="0">
                <a:solidFill>
                  <a:srgbClr val="C00000"/>
                </a:solidFill>
              </a:rPr>
              <a:t>UPDATE Book</a:t>
            </a:r>
          </a:p>
          <a:p>
            <a:pPr marL="93663" lvl="2"/>
            <a:r>
              <a:rPr lang="en-US" b="1" i="1" dirty="0">
                <a:solidFill>
                  <a:srgbClr val="C00000"/>
                </a:solidFill>
              </a:rPr>
              <a:t>SET          QOH = QOH + @QOH</a:t>
            </a:r>
          </a:p>
          <a:p>
            <a:pPr marL="93663" lvl="2"/>
            <a:r>
              <a:rPr lang="en-US" b="1" i="1" dirty="0">
                <a:solidFill>
                  <a:srgbClr val="C00000"/>
                </a:solidFill>
              </a:rPr>
              <a:t>WHERE  (</a:t>
            </a:r>
            <a:r>
              <a:rPr lang="en-US" b="1" i="1" dirty="0" err="1">
                <a:solidFill>
                  <a:srgbClr val="C00000"/>
                </a:solidFill>
              </a:rPr>
              <a:t>BookTitle</a:t>
            </a:r>
            <a:r>
              <a:rPr lang="en-US" b="1" i="1" dirty="0">
                <a:solidFill>
                  <a:srgbClr val="C00000"/>
                </a:solidFill>
              </a:rPr>
              <a:t> = @</a:t>
            </a:r>
            <a:r>
              <a:rPr lang="en-US" b="1" i="1" dirty="0" err="1">
                <a:solidFill>
                  <a:srgbClr val="C00000"/>
                </a:solidFill>
              </a:rPr>
              <a:t>Original_BookTitle</a:t>
            </a:r>
            <a:r>
              <a:rPr lang="en-US" b="1" i="1" dirty="0">
                <a:solidFill>
                  <a:srgbClr val="C00000"/>
                </a:solidFill>
              </a:rPr>
              <a:t>);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731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1246093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Remember that an Invoice is simply a temporary table – once a transaction is recorded the Invoice Data Table must be cleared up completely</a:t>
            </a:r>
          </a:p>
          <a:p>
            <a:r>
              <a:rPr lang="en-ZA" b="1" dirty="0">
                <a:solidFill>
                  <a:srgbClr val="C00000"/>
                </a:solidFill>
              </a:rPr>
              <a:t>The idea is that the use selects a book (by </a:t>
            </a:r>
            <a:r>
              <a:rPr lang="en-ZA" b="1" dirty="0">
                <a:solidFill>
                  <a:srgbClr val="7030A0"/>
                </a:solidFill>
              </a:rPr>
              <a:t>double clicking the cell content </a:t>
            </a:r>
            <a:r>
              <a:rPr lang="en-ZA" b="1" dirty="0">
                <a:solidFill>
                  <a:srgbClr val="C00000"/>
                </a:solidFill>
              </a:rPr>
              <a:t>where the book is named – you could also </a:t>
            </a:r>
            <a:r>
              <a:rPr lang="en-ZA" b="1" dirty="0">
                <a:solidFill>
                  <a:srgbClr val="7030A0"/>
                </a:solidFill>
              </a:rPr>
              <a:t>use the row double click </a:t>
            </a:r>
            <a:r>
              <a:rPr lang="en-ZA" b="1" dirty="0">
                <a:solidFill>
                  <a:srgbClr val="C00000"/>
                </a:solidFill>
              </a:rPr>
              <a:t>as well) and the book is added to the Invoice Table (for this app we will assume that the user can only select a book once only – i.e. the user can select many books but only 1 of each – code is shown below</a:t>
            </a:r>
          </a:p>
          <a:p>
            <a:r>
              <a:rPr lang="en-ZA" b="1" dirty="0">
                <a:solidFill>
                  <a:srgbClr val="C00000"/>
                </a:solidFill>
              </a:rPr>
              <a:t>Also whenever a book is selected the amount owing will be updated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Adding Books to an Invoice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882B6-9A65-4DE2-BAC8-D0424C1A5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6213" y="2187389"/>
            <a:ext cx="3455787" cy="40962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6DD00A1-078E-4017-B178-2232E9526604}"/>
              </a:ext>
            </a:extLst>
          </p:cNvPr>
          <p:cNvSpPr/>
          <p:nvPr/>
        </p:nvSpPr>
        <p:spPr>
          <a:xfrm>
            <a:off x="634482" y="2379307"/>
            <a:ext cx="7352522" cy="36933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dgvBook_CellContentDoubleClick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DataGridViewCellEventArgs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DataRow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dsBook1.BkInvoice.NewRow();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dr.ItemArray.Length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dgvBook.CurrentRow.Cells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].Value;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dsBook1.BkInvoice.Rows.Add(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////</a:t>
            </a:r>
            <a:r>
              <a:rPr lang="en-ZA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getTotal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ZA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("C2");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</a:t>
            </a:r>
            <a:r>
              <a:rPr lang="en-ZA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getTotal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ZA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ZA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9557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DEBCA7-E56C-4766-BE63-D661CD4E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 Better Version of adding rows to the dynamic Invoice </a:t>
            </a:r>
            <a:r>
              <a:rPr lang="en-ZA" dirty="0" err="1"/>
              <a:t>Gridview</a:t>
            </a:r>
            <a:endParaRPr lang="en-Z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EABBC2-60BE-4839-BFB9-E29341409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86" y="1091318"/>
            <a:ext cx="10815864" cy="1437278"/>
          </a:xfrm>
        </p:spPr>
        <p:txBody>
          <a:bodyPr>
            <a:normAutofit fontScale="47500" lnSpcReduction="20000"/>
          </a:bodyPr>
          <a:lstStyle/>
          <a:p>
            <a:r>
              <a:rPr lang="en-ZA" dirty="0"/>
              <a:t>The </a:t>
            </a:r>
            <a:r>
              <a:rPr lang="en-ZA" dirty="0" err="1"/>
              <a:t>RowHeaderMouseDoubleCLick</a:t>
            </a:r>
            <a:r>
              <a:rPr lang="en-ZA" dirty="0"/>
              <a:t> is a more responsive event handler</a:t>
            </a:r>
          </a:p>
          <a:p>
            <a:r>
              <a:rPr lang="en-ZA" dirty="0"/>
              <a:t>Instead of using a loop to iterate though the columns of the current row, you can use the actual names of the columns to fill up the “new row” with records from the </a:t>
            </a:r>
            <a:r>
              <a:rPr lang="en-ZA" dirty="0" err="1"/>
              <a:t>datagridview</a:t>
            </a:r>
            <a:endParaRPr lang="en-ZA" dirty="0"/>
          </a:p>
          <a:p>
            <a:r>
              <a:rPr lang="en-ZA" dirty="0"/>
              <a:t>The code below demonstrates this!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A63B6F-4A31-4C01-B3A0-7FA2D760B73B}"/>
              </a:ext>
            </a:extLst>
          </p:cNvPr>
          <p:cNvSpPr/>
          <p:nvPr/>
        </p:nvSpPr>
        <p:spPr>
          <a:xfrm>
            <a:off x="633186" y="3142012"/>
            <a:ext cx="10375640" cy="2862322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</p:spPr>
        <p:txBody>
          <a:bodyPr wrap="square">
            <a:spAutoFit/>
          </a:bodyPr>
          <a:lstStyle/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dgvBook_RowHeaderMouseDoubleClick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DataGridViewCellMouseEventArgs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DataRow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dsBook1.BkInvoice.NewRow();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BookTitle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dgvBook.CurrentRow.Cells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[0].Value;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BookCost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]=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dgvBook.CurrentRow.Cells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[1].Value;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dsBook1.BkInvoice.Rows.Add(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getTotal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"C2"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   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92836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E04D-7D82-4367-99B6-7C89777B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Calculate the Total for the Invoice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CE0B3-61BC-49F3-8643-F8C19B287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86" y="1091318"/>
            <a:ext cx="10815864" cy="718821"/>
          </a:xfrm>
        </p:spPr>
        <p:txBody>
          <a:bodyPr>
            <a:normAutofit fontScale="55000" lnSpcReduction="20000"/>
          </a:bodyPr>
          <a:lstStyle/>
          <a:p>
            <a:r>
              <a:rPr lang="en-ZA" dirty="0"/>
              <a:t>This code entails iteration through the rows of the Invoice </a:t>
            </a:r>
            <a:r>
              <a:rPr lang="en-ZA" dirty="0" err="1"/>
              <a:t>gridview</a:t>
            </a:r>
            <a:r>
              <a:rPr lang="en-ZA" dirty="0"/>
              <a:t> and adding up the sub-totals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8AE171-A17B-4402-AF63-2DA8EB9B9CC2}"/>
              </a:ext>
            </a:extLst>
          </p:cNvPr>
          <p:cNvSpPr/>
          <p:nvPr/>
        </p:nvSpPr>
        <p:spPr>
          <a:xfrm>
            <a:off x="1342160" y="2136338"/>
            <a:ext cx="8622568" cy="258532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getTotal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sum = 0;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dsBookApp1.Invoice.Rows.Count;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sum +=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.ToDouble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(dsBookApp1.Invoice.Rows[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][1]);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sum;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52374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573740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To clear the current Invoice Row….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Clearing Rows from the Invoice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6DD23-B296-4708-81ED-D530DA8ABB54}"/>
              </a:ext>
            </a:extLst>
          </p:cNvPr>
          <p:cNvSpPr/>
          <p:nvPr/>
        </p:nvSpPr>
        <p:spPr>
          <a:xfrm>
            <a:off x="510988" y="1427235"/>
            <a:ext cx="10945906" cy="1477328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btnClearCurrentRow_Click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dsBookApp1.Invoice.Rows[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dgvBookInvoice.CurrentRow.Index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].Delete();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getTotal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"C2"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BDEA296-2BB2-4D07-BF9E-E1C1A503DDCC}"/>
              </a:ext>
            </a:extLst>
          </p:cNvPr>
          <p:cNvSpPr txBox="1">
            <a:spLocks/>
          </p:cNvSpPr>
          <p:nvPr/>
        </p:nvSpPr>
        <p:spPr>
          <a:xfrm>
            <a:off x="470647" y="3142130"/>
            <a:ext cx="11250706" cy="573740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rgbClr val="C00000"/>
                </a:solidFill>
              </a:rPr>
              <a:t>To clear all the Invoice Rows….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B2A767-E0E9-4D72-9ED0-950A4997632E}"/>
              </a:ext>
            </a:extLst>
          </p:cNvPr>
          <p:cNvSpPr/>
          <p:nvPr/>
        </p:nvSpPr>
        <p:spPr>
          <a:xfrm>
            <a:off x="510988" y="3685417"/>
            <a:ext cx="8879541" cy="1477328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btnClearRow_Click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dsBookApp1.Invoice.Rows.Clear();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14544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2187387"/>
          </a:xfrm>
        </p:spPr>
        <p:txBody>
          <a:bodyPr/>
          <a:lstStyle/>
          <a:p>
            <a:r>
              <a:rPr lang="en-ZA" sz="1800" b="1" dirty="0">
                <a:solidFill>
                  <a:srgbClr val="C00000"/>
                </a:solidFill>
              </a:rPr>
              <a:t>There are 2 parts</a:t>
            </a:r>
          </a:p>
          <a:p>
            <a:r>
              <a:rPr lang="en-ZA" b="1" dirty="0">
                <a:solidFill>
                  <a:srgbClr val="C00000"/>
                </a:solidFill>
              </a:rPr>
              <a:t>Part One is easy – this simply entail recording a Sale into the Order table with the overall Amount, Date and the Order ID that will be system generated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Once this is done the newly inserted </a:t>
            </a:r>
            <a:r>
              <a:rPr lang="en-ZA" b="1" dirty="0" err="1">
                <a:solidFill>
                  <a:srgbClr val="C00000"/>
                </a:solidFill>
              </a:rPr>
              <a:t>OrderID</a:t>
            </a:r>
            <a:r>
              <a:rPr lang="en-ZA" b="1" dirty="0">
                <a:solidFill>
                  <a:srgbClr val="C00000"/>
                </a:solidFill>
              </a:rPr>
              <a:t> must be returned so that you can record the Order details using this ID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If you right click look at the Order Table adapter, you can add a </a:t>
            </a:r>
            <a:r>
              <a:rPr lang="en-ZA" b="1" dirty="0" err="1">
                <a:solidFill>
                  <a:srgbClr val="C00000"/>
                </a:solidFill>
              </a:rPr>
              <a:t>Sql</a:t>
            </a:r>
            <a:r>
              <a:rPr lang="en-ZA" b="1" dirty="0">
                <a:solidFill>
                  <a:srgbClr val="C00000"/>
                </a:solidFill>
              </a:rPr>
              <a:t> Insert query; it has an Insert </a:t>
            </a:r>
            <a:r>
              <a:rPr lang="en-ZA" b="1" dirty="0" err="1">
                <a:solidFill>
                  <a:srgbClr val="C00000"/>
                </a:solidFill>
              </a:rPr>
              <a:t>Sql</a:t>
            </a:r>
            <a:r>
              <a:rPr lang="en-ZA" b="1" dirty="0">
                <a:solidFill>
                  <a:srgbClr val="C00000"/>
                </a:solidFill>
              </a:rPr>
              <a:t> statement that looks like</a:t>
            </a:r>
          </a:p>
          <a:p>
            <a:pPr lvl="1"/>
            <a:endParaRPr lang="en-ZA" b="1" dirty="0">
              <a:solidFill>
                <a:srgbClr val="C00000"/>
              </a:solidFill>
            </a:endParaRPr>
          </a:p>
          <a:p>
            <a:pPr lvl="1"/>
            <a:endParaRPr lang="en-ZA" b="1" dirty="0">
              <a:solidFill>
                <a:srgbClr val="C00000"/>
              </a:solidFill>
            </a:endParaRP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This statement does one of 2 things – it inserts a new Order into the </a:t>
            </a:r>
            <a:r>
              <a:rPr lang="en-ZA" b="1" dirty="0" err="1">
                <a:solidFill>
                  <a:srgbClr val="C00000"/>
                </a:solidFill>
              </a:rPr>
              <a:t>BookOrder</a:t>
            </a:r>
            <a:r>
              <a:rPr lang="en-ZA" b="1" dirty="0">
                <a:solidFill>
                  <a:srgbClr val="C00000"/>
                </a:solidFill>
              </a:rPr>
              <a:t> table; OR it inserts a new Order into the </a:t>
            </a:r>
            <a:r>
              <a:rPr lang="en-ZA" b="1" dirty="0" err="1">
                <a:solidFill>
                  <a:srgbClr val="C00000"/>
                </a:solidFill>
              </a:rPr>
              <a:t>BookOrder</a:t>
            </a:r>
            <a:r>
              <a:rPr lang="en-ZA" b="1" dirty="0">
                <a:solidFill>
                  <a:srgbClr val="C00000"/>
                </a:solidFill>
              </a:rPr>
              <a:t> table and returns the PK (</a:t>
            </a:r>
            <a:r>
              <a:rPr lang="en-ZA" b="1" dirty="0" err="1">
                <a:solidFill>
                  <a:srgbClr val="C00000"/>
                </a:solidFill>
              </a:rPr>
              <a:t>OrderNo</a:t>
            </a:r>
            <a:r>
              <a:rPr lang="en-ZA" b="1" dirty="0">
                <a:solidFill>
                  <a:srgbClr val="C00000"/>
                </a:solidFill>
              </a:rPr>
              <a:t>) of the newly inserted record. This is done via the </a:t>
            </a:r>
            <a:r>
              <a:rPr lang="en-ZA" b="1" dirty="0" err="1">
                <a:solidFill>
                  <a:srgbClr val="C00000"/>
                </a:solidFill>
              </a:rPr>
              <a:t>Scope_Identity</a:t>
            </a:r>
            <a:r>
              <a:rPr lang="en-ZA" b="1" dirty="0">
                <a:solidFill>
                  <a:srgbClr val="C00000"/>
                </a:solidFill>
              </a:rPr>
              <a:t>() function that you see in the </a:t>
            </a:r>
            <a:r>
              <a:rPr lang="en-ZA" b="1" dirty="0" err="1">
                <a:solidFill>
                  <a:srgbClr val="C00000"/>
                </a:solidFill>
              </a:rPr>
              <a:t>Sql</a:t>
            </a:r>
            <a:r>
              <a:rPr lang="en-ZA" b="1" dirty="0">
                <a:solidFill>
                  <a:srgbClr val="C00000"/>
                </a:solidFill>
              </a:rPr>
              <a:t> statement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We will use the 2</a:t>
            </a:r>
            <a:r>
              <a:rPr lang="en-ZA" b="1" baseline="30000" dirty="0">
                <a:solidFill>
                  <a:srgbClr val="C00000"/>
                </a:solidFill>
              </a:rPr>
              <a:t>nd</a:t>
            </a:r>
            <a:r>
              <a:rPr lang="en-ZA" b="1" dirty="0">
                <a:solidFill>
                  <a:srgbClr val="C00000"/>
                </a:solidFill>
              </a:rPr>
              <a:t> option where the Insertion takes place and the PK of the newly inserted record is returned</a:t>
            </a:r>
          </a:p>
          <a:p>
            <a:pPr lvl="1"/>
            <a:endParaRPr lang="en-ZA" b="1" dirty="0">
              <a:solidFill>
                <a:srgbClr val="C00000"/>
              </a:solidFill>
            </a:endParaRPr>
          </a:p>
          <a:p>
            <a:pPr lvl="1"/>
            <a:endParaRPr lang="en-ZA" b="1" dirty="0">
              <a:solidFill>
                <a:srgbClr val="C00000"/>
              </a:solidFill>
            </a:endParaRPr>
          </a:p>
          <a:p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Recording a Sale Transaction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6FCEDB-ED05-4107-8DA0-D963EF3814A9}"/>
              </a:ext>
            </a:extLst>
          </p:cNvPr>
          <p:cNvSpPr/>
          <p:nvPr/>
        </p:nvSpPr>
        <p:spPr>
          <a:xfrm>
            <a:off x="842682" y="3081796"/>
            <a:ext cx="1083833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ZA" dirty="0"/>
              <a:t>INSERT INTO [</a:t>
            </a:r>
            <a:r>
              <a:rPr lang="en-ZA" dirty="0" err="1"/>
              <a:t>dbo</a:t>
            </a:r>
            <a:r>
              <a:rPr lang="en-ZA" dirty="0"/>
              <a:t>].[</a:t>
            </a:r>
            <a:r>
              <a:rPr lang="en-ZA" dirty="0" err="1"/>
              <a:t>BookOrder</a:t>
            </a:r>
            <a:r>
              <a:rPr lang="en-ZA" dirty="0"/>
              <a:t>] ([</a:t>
            </a:r>
            <a:r>
              <a:rPr lang="en-ZA" dirty="0" err="1"/>
              <a:t>OrderDate</a:t>
            </a:r>
            <a:r>
              <a:rPr lang="en-ZA" dirty="0"/>
              <a:t>], [</a:t>
            </a:r>
            <a:r>
              <a:rPr lang="en-ZA" dirty="0" err="1"/>
              <a:t>OrderAmt</a:t>
            </a:r>
            <a:r>
              <a:rPr lang="en-ZA" dirty="0"/>
              <a:t>]) VALUES (@</a:t>
            </a:r>
            <a:r>
              <a:rPr lang="en-ZA" dirty="0" err="1"/>
              <a:t>OrderDate</a:t>
            </a:r>
            <a:r>
              <a:rPr lang="en-ZA" dirty="0"/>
              <a:t>, @</a:t>
            </a:r>
            <a:r>
              <a:rPr lang="en-ZA" dirty="0" err="1"/>
              <a:t>OrderAmt</a:t>
            </a:r>
            <a:r>
              <a:rPr lang="en-ZA" b="1" dirty="0"/>
              <a:t>);</a:t>
            </a:r>
          </a:p>
          <a:p>
            <a:r>
              <a:rPr lang="en-ZA" dirty="0"/>
              <a:t>SELECT </a:t>
            </a:r>
            <a:r>
              <a:rPr lang="en-ZA" dirty="0" err="1"/>
              <a:t>OrderNo</a:t>
            </a:r>
            <a:r>
              <a:rPr lang="en-ZA" dirty="0"/>
              <a:t>, </a:t>
            </a:r>
            <a:r>
              <a:rPr lang="en-ZA" dirty="0" err="1"/>
              <a:t>OrderDate</a:t>
            </a:r>
            <a:r>
              <a:rPr lang="en-ZA" dirty="0"/>
              <a:t>, </a:t>
            </a:r>
            <a:r>
              <a:rPr lang="en-ZA" dirty="0" err="1"/>
              <a:t>OrderAmt</a:t>
            </a:r>
            <a:r>
              <a:rPr lang="en-ZA" dirty="0"/>
              <a:t> FROM </a:t>
            </a:r>
            <a:r>
              <a:rPr lang="en-ZA" dirty="0" err="1"/>
              <a:t>BookOrder</a:t>
            </a:r>
            <a:r>
              <a:rPr lang="en-ZA" dirty="0"/>
              <a:t> WHERE (</a:t>
            </a:r>
            <a:r>
              <a:rPr lang="en-ZA" dirty="0" err="1"/>
              <a:t>OrderNo</a:t>
            </a:r>
            <a:r>
              <a:rPr lang="en-ZA" dirty="0"/>
              <a:t> = </a:t>
            </a:r>
            <a:r>
              <a:rPr lang="en-ZA" b="1" dirty="0"/>
              <a:t>SCOPE_IDENTITY()</a:t>
            </a:r>
            <a:r>
              <a:rPr lang="en-ZA" dirty="0"/>
              <a:t>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5410B6-A750-4CDB-AB42-1DE7C04F12B0}"/>
              </a:ext>
            </a:extLst>
          </p:cNvPr>
          <p:cNvGrpSpPr/>
          <p:nvPr/>
        </p:nvGrpSpPr>
        <p:grpSpPr>
          <a:xfrm>
            <a:off x="3164541" y="0"/>
            <a:ext cx="9027459" cy="2474259"/>
            <a:chOff x="3164541" y="0"/>
            <a:chExt cx="9027459" cy="24742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06BEB3-40AF-47CA-87FD-E251FF83F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23176" y="0"/>
              <a:ext cx="1568824" cy="1331979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0CC994D-EE32-468C-9F24-08B1D04C384E}"/>
                </a:ext>
              </a:extLst>
            </p:cNvPr>
            <p:cNvCxnSpPr/>
            <p:nvPr/>
          </p:nvCxnSpPr>
          <p:spPr>
            <a:xfrm flipV="1">
              <a:off x="3164541" y="806824"/>
              <a:ext cx="7458635" cy="16674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6771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830997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On the </a:t>
            </a:r>
            <a:r>
              <a:rPr lang="en-ZA" b="1" dirty="0" err="1">
                <a:solidFill>
                  <a:srgbClr val="C00000"/>
                </a:solidFill>
              </a:rPr>
              <a:t>InsertQuery</a:t>
            </a:r>
            <a:r>
              <a:rPr lang="en-ZA" b="1" dirty="0">
                <a:solidFill>
                  <a:srgbClr val="C00000"/>
                </a:solidFill>
              </a:rPr>
              <a:t> of the Order Table Adapter you have to make a few changes: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Change the Execute mode to Scalar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Configuration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6AED271-41CF-4DAF-B760-B024FDA59932}"/>
              </a:ext>
            </a:extLst>
          </p:cNvPr>
          <p:cNvGrpSpPr/>
          <p:nvPr/>
        </p:nvGrpSpPr>
        <p:grpSpPr>
          <a:xfrm>
            <a:off x="1317812" y="1833584"/>
            <a:ext cx="6627442" cy="3190831"/>
            <a:chOff x="1317812" y="1833584"/>
            <a:chExt cx="6627442" cy="31908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818C39E-6D3B-497B-9805-436B60419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7812" y="1833584"/>
              <a:ext cx="6627442" cy="3190831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A1A3091-2487-4D51-BDFF-5D8EE263BEFD}"/>
                </a:ext>
              </a:extLst>
            </p:cNvPr>
            <p:cNvCxnSpPr/>
            <p:nvPr/>
          </p:nvCxnSpPr>
          <p:spPr>
            <a:xfrm>
              <a:off x="3576918" y="2814918"/>
              <a:ext cx="3200400" cy="17212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B2724434-2EF1-40F5-88C0-2F1BBB03F79A}"/>
              </a:ext>
            </a:extLst>
          </p:cNvPr>
          <p:cNvSpPr txBox="1">
            <a:spLocks/>
          </p:cNvSpPr>
          <p:nvPr/>
        </p:nvSpPr>
        <p:spPr>
          <a:xfrm>
            <a:off x="470647" y="5393628"/>
            <a:ext cx="11250706" cy="830997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rgbClr val="C00000"/>
                </a:solidFill>
              </a:rPr>
              <a:t>This will ensure that the </a:t>
            </a:r>
            <a:r>
              <a:rPr lang="en-ZA" b="1" dirty="0" err="1">
                <a:solidFill>
                  <a:srgbClr val="C00000"/>
                </a:solidFill>
              </a:rPr>
              <a:t>Scope_Identity</a:t>
            </a:r>
            <a:r>
              <a:rPr lang="en-ZA" b="1" dirty="0">
                <a:solidFill>
                  <a:srgbClr val="C00000"/>
                </a:solidFill>
              </a:rPr>
              <a:t> () function kicks in and returns the PK of the newly inserted record; in the code, you will need to cast (convert) this value to an integer</a:t>
            </a:r>
          </a:p>
        </p:txBody>
      </p:sp>
    </p:spTree>
    <p:extLst>
      <p:ext uri="{BB962C8B-B14F-4D97-AF65-F5344CB8AC3E}">
        <p14:creationId xmlns:p14="http://schemas.microsoft.com/office/powerpoint/2010/main" val="370454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4948516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The logic goes like this: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The Sale Order consists of many books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First Record the Overall Order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Return the PK of the newly Recorded/inserted order from the </a:t>
            </a:r>
            <a:r>
              <a:rPr lang="en-ZA" b="1" dirty="0" err="1">
                <a:solidFill>
                  <a:srgbClr val="C00000"/>
                </a:solidFill>
              </a:rPr>
              <a:t>BookOrder</a:t>
            </a:r>
            <a:r>
              <a:rPr lang="en-ZA" b="1" dirty="0">
                <a:solidFill>
                  <a:srgbClr val="C00000"/>
                </a:solidFill>
              </a:rPr>
              <a:t> table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Use this PK to record the details of all the books that formed part of the </a:t>
            </a:r>
            <a:r>
              <a:rPr lang="en-ZA" b="1" dirty="0" err="1">
                <a:solidFill>
                  <a:srgbClr val="C00000"/>
                </a:solidFill>
              </a:rPr>
              <a:t>BookOrder</a:t>
            </a:r>
            <a:r>
              <a:rPr lang="en-ZA" b="1" dirty="0">
                <a:solidFill>
                  <a:srgbClr val="C00000"/>
                </a:solidFill>
              </a:rPr>
              <a:t>; these details are recorded in the </a:t>
            </a:r>
            <a:r>
              <a:rPr lang="en-ZA" b="1" dirty="0" err="1">
                <a:solidFill>
                  <a:srgbClr val="C00000"/>
                </a:solidFill>
              </a:rPr>
              <a:t>BookOrderDetails</a:t>
            </a:r>
            <a:r>
              <a:rPr lang="en-ZA" b="1" dirty="0">
                <a:solidFill>
                  <a:srgbClr val="C00000"/>
                </a:solidFill>
              </a:rPr>
              <a:t> table; the PK for each row is a composite PK consisting of a combination of the PK of the overall Order and </a:t>
            </a:r>
            <a:r>
              <a:rPr lang="en-ZA" b="1" dirty="0" err="1">
                <a:solidFill>
                  <a:srgbClr val="C00000"/>
                </a:solidFill>
              </a:rPr>
              <a:t>BookNo</a:t>
            </a:r>
            <a:r>
              <a:rPr lang="en-ZA" b="1" dirty="0">
                <a:solidFill>
                  <a:srgbClr val="C00000"/>
                </a:solidFill>
              </a:rPr>
              <a:t> of each book that is part of the Order</a:t>
            </a:r>
          </a:p>
          <a:p>
            <a:pPr lvl="1"/>
            <a:r>
              <a:rPr lang="en-ZA" b="1" dirty="0">
                <a:solidFill>
                  <a:srgbClr val="C00000"/>
                </a:solidFill>
              </a:rPr>
              <a:t>Since there is usually more than one book in the Order, the recording of each book is done via a looping structure (such as a for loop)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Code to Record the Main Transaction AND the Inner Details - Explanation</a:t>
            </a:r>
          </a:p>
        </p:txBody>
      </p:sp>
    </p:spTree>
    <p:extLst>
      <p:ext uri="{BB962C8B-B14F-4D97-AF65-F5344CB8AC3E}">
        <p14:creationId xmlns:p14="http://schemas.microsoft.com/office/powerpoint/2010/main" val="3567074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553685"/>
          </a:xfrm>
        </p:spPr>
        <p:txBody>
          <a:bodyPr/>
          <a:lstStyle/>
          <a:p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50346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sz="2000" b="1" u="sng" dirty="0"/>
              <a:t>The Code to Record a Sale and return the PK of the New Sale/Order record</a:t>
            </a:r>
            <a:br>
              <a:rPr lang="en-ZA" sz="2000" b="1" u="sng" dirty="0"/>
            </a:br>
            <a:r>
              <a:rPr lang="en-ZA" sz="2000" b="1" u="sng" dirty="0"/>
              <a:t>…and a for loop to record the Inner Detail of the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41DFB4-BEDB-44B3-8BE7-B17C228E9135}"/>
              </a:ext>
            </a:extLst>
          </p:cNvPr>
          <p:cNvSpPr/>
          <p:nvPr/>
        </p:nvSpPr>
        <p:spPr>
          <a:xfrm>
            <a:off x="0" y="899518"/>
            <a:ext cx="12122870" cy="48013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btnRecordSale_Click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pk;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DialogResult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 =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.Show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"Do you want to Confirm?"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"Confirmation"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MessageBoxButtons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.YesNoCancel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ZA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 == </a:t>
            </a:r>
            <a:r>
              <a:rPr lang="en-ZA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DialogResult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.Yes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pk = (</a:t>
            </a:r>
            <a:r>
              <a:rPr lang="en-ZA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)taBookOrder1.InsertQueryPK(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.Now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.Parse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NumberStyles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.Currency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.Show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"The Order for a Total Amount of 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"has been Confirmed and the PK is 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pk);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taBookOrder1.Fill(dsBookApp1.BookOrder);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//to fill the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gridview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with the newly recorded order so that it can be viewed</a:t>
            </a:r>
            <a:endParaRPr lang="en-US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dgvBookInvoice.Rows.Count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- 1;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  <a:r>
              <a:rPr lang="en-US" dirty="0">
                <a:highlight>
                  <a:srgbClr val="FFFFFF"/>
                </a:highlight>
              </a:rPr>
              <a:t> //record the inner detail of the Order</a:t>
            </a:r>
            <a:endParaRPr lang="en-ZA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ZA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bkID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].Cells[0].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Value.ToString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bkPrice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].Cells[1].Value;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taBookOrderDetail1.Insert(pk,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bkID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1, </a:t>
            </a:r>
            <a:r>
              <a:rPr lang="en-ZA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bkPrice</a:t>
            </a:r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en-ZA" dirty="0">
                <a:solidFill>
                  <a:srgbClr val="92D05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//the default quantity is 1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}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9947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4948516"/>
          </a:xfrm>
        </p:spPr>
        <p:txBody>
          <a:bodyPr/>
          <a:lstStyle/>
          <a:p>
            <a:r>
              <a:rPr lang="en-ZA" sz="1800" b="1" dirty="0">
                <a:solidFill>
                  <a:srgbClr val="C00000"/>
                </a:solidFill>
              </a:rPr>
              <a:t>When a Sale is recorded – the PK is returned…An </a:t>
            </a:r>
            <a:r>
              <a:rPr lang="en-ZA" sz="1800" b="1" dirty="0" err="1">
                <a:solidFill>
                  <a:srgbClr val="C00000"/>
                </a:solidFill>
              </a:rPr>
              <a:t>InsertQuery</a:t>
            </a:r>
            <a:r>
              <a:rPr lang="en-ZA" sz="1800" b="1" dirty="0">
                <a:solidFill>
                  <a:srgbClr val="C00000"/>
                </a:solidFill>
              </a:rPr>
              <a:t> is executed where the Insert Parameters are the date and the Amount owing – note that </a:t>
            </a:r>
            <a:r>
              <a:rPr lang="en-ZA" sz="1800" b="1" dirty="0" err="1">
                <a:solidFill>
                  <a:srgbClr val="C00000"/>
                </a:solidFill>
              </a:rPr>
              <a:t>Decimal.Parse</a:t>
            </a:r>
            <a:r>
              <a:rPr lang="en-ZA" sz="1800" b="1" dirty="0">
                <a:solidFill>
                  <a:srgbClr val="C00000"/>
                </a:solidFill>
              </a:rPr>
              <a:t>(</a:t>
            </a:r>
            <a:r>
              <a:rPr lang="en-ZA" sz="1800" b="1" dirty="0" err="1">
                <a:solidFill>
                  <a:srgbClr val="C00000"/>
                </a:solidFill>
              </a:rPr>
              <a:t>txtAmtOwing.text,NumberStyle.Currency</a:t>
            </a:r>
            <a:r>
              <a:rPr lang="en-ZA" sz="1800" b="1" dirty="0">
                <a:solidFill>
                  <a:srgbClr val="C00000"/>
                </a:solidFill>
              </a:rPr>
              <a:t>) statement is used to extract/remove the currency symbol before the insertion into the </a:t>
            </a:r>
            <a:r>
              <a:rPr lang="en-ZA" sz="1800" b="1" dirty="0" err="1">
                <a:solidFill>
                  <a:srgbClr val="C00000"/>
                </a:solidFill>
              </a:rPr>
              <a:t>databse</a:t>
            </a:r>
            <a:r>
              <a:rPr lang="en-ZA" sz="1800" b="1" dirty="0">
                <a:solidFill>
                  <a:srgbClr val="C00000"/>
                </a:solidFill>
              </a:rPr>
              <a:t> is made – that is because the </a:t>
            </a:r>
            <a:r>
              <a:rPr lang="en-ZA" sz="1800" b="1" dirty="0" err="1">
                <a:solidFill>
                  <a:srgbClr val="C00000"/>
                </a:solidFill>
              </a:rPr>
              <a:t>AmountOwing</a:t>
            </a:r>
            <a:r>
              <a:rPr lang="en-ZA" sz="1800" b="1" dirty="0">
                <a:solidFill>
                  <a:srgbClr val="C00000"/>
                </a:solidFill>
              </a:rPr>
              <a:t> field is a Decimal – not a String</a:t>
            </a:r>
          </a:p>
          <a:p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pk = (</a:t>
            </a:r>
            <a:r>
              <a:rPr lang="en-ZA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)taBookOrder1.InsertQueryPK(</a:t>
            </a:r>
            <a:r>
              <a:rPr lang="en-ZA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.Now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.Parse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NumberStyles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.Currency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r>
              <a:rPr lang="en-ZA" sz="1800" b="1" dirty="0">
                <a:solidFill>
                  <a:srgbClr val="C00000"/>
                </a:solidFill>
              </a:rPr>
              <a:t>This PK is used to record the inner detail of the Order – </a:t>
            </a:r>
            <a:r>
              <a:rPr lang="en-ZA" sz="1800" b="1" dirty="0" err="1">
                <a:solidFill>
                  <a:srgbClr val="C00000"/>
                </a:solidFill>
              </a:rPr>
              <a:t>i.e.the</a:t>
            </a:r>
            <a:r>
              <a:rPr lang="en-ZA" sz="1800" b="1" dirty="0">
                <a:solidFill>
                  <a:srgbClr val="C00000"/>
                </a:solidFill>
              </a:rPr>
              <a:t> details of each book is recorded together with the PK of the Order…</a:t>
            </a:r>
          </a:p>
          <a:p>
            <a:r>
              <a:rPr lang="en-ZA" sz="1800" b="1" dirty="0">
                <a:solidFill>
                  <a:srgbClr val="C00000"/>
                </a:solidFill>
              </a:rPr>
              <a:t>Since there is one or more items to record as part of the inner details, a for loop is required…</a:t>
            </a:r>
          </a:p>
          <a:p>
            <a:r>
              <a:rPr lang="en-ZA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ZA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dgvBookInvoice.Rows.Count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- 1; </a:t>
            </a:r>
            <a:r>
              <a:rPr lang="en-ZA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</a:p>
          <a:p>
            <a:r>
              <a:rPr lang="en-ZA" sz="18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 for loop iterates through all the rows of the Invoice </a:t>
            </a:r>
            <a:r>
              <a:rPr lang="en-ZA" sz="18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Grdiview</a:t>
            </a:r>
            <a:r>
              <a:rPr lang="en-ZA" sz="18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ZA" sz="1800" b="1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DataTable</a:t>
            </a:r>
            <a:r>
              <a:rPr lang="en-ZA" sz="18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and inserts each row into the Database…</a:t>
            </a:r>
            <a:endParaRPr lang="en-ZA" sz="1800" b="1" dirty="0">
              <a:solidFill>
                <a:srgbClr val="C00000"/>
              </a:solidFill>
            </a:endParaRPr>
          </a:p>
          <a:p>
            <a:r>
              <a:rPr lang="en-US" sz="1800" b="1" dirty="0"/>
              <a:t>taBookOrderDetail1.Insert(pk, bkID, 1, </a:t>
            </a:r>
            <a:r>
              <a:rPr lang="en-US" sz="1800" b="1" dirty="0" err="1"/>
              <a:t>bkPrice</a:t>
            </a:r>
            <a:r>
              <a:rPr lang="en-US" sz="1800" b="1" dirty="0"/>
              <a:t>); </a:t>
            </a:r>
            <a:r>
              <a:rPr lang="en-US" sz="1800" dirty="0"/>
              <a:t>//the assumption is made that the quantity for the purchase is 1 – we can always change this at a later stage…</a:t>
            </a:r>
          </a:p>
          <a:p>
            <a:endParaRPr lang="en-ZA" sz="1800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Things to Take Note of</a:t>
            </a:r>
          </a:p>
        </p:txBody>
      </p:sp>
    </p:spTree>
    <p:extLst>
      <p:ext uri="{BB962C8B-B14F-4D97-AF65-F5344CB8AC3E}">
        <p14:creationId xmlns:p14="http://schemas.microsoft.com/office/powerpoint/2010/main" val="2381473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412375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Double click book rows for selection </a:t>
            </a:r>
            <a:r>
              <a:rPr lang="en-ZA" b="1" dirty="0">
                <a:solidFill>
                  <a:srgbClr val="C00000"/>
                </a:solidFill>
                <a:sym typeface="Wingdings" panose="05000000000000000000" pitchFamily="2" charset="2"/>
              </a:rPr>
              <a:t> Fill up the Invoice Get the Confirmation  A message to show Sale details appear The </a:t>
            </a:r>
            <a:r>
              <a:rPr lang="en-ZA" b="1" dirty="0" err="1">
                <a:solidFill>
                  <a:srgbClr val="C00000"/>
                </a:solidFill>
                <a:sym typeface="Wingdings" panose="05000000000000000000" pitchFamily="2" charset="2"/>
              </a:rPr>
              <a:t>BookOrder</a:t>
            </a:r>
            <a:r>
              <a:rPr lang="en-ZA" b="1" dirty="0">
                <a:solidFill>
                  <a:srgbClr val="C00000"/>
                </a:solidFill>
                <a:sym typeface="Wingdings" panose="05000000000000000000" pitchFamily="2" charset="2"/>
              </a:rPr>
              <a:t> shows details of the New Order Click on the Row of the Order  and the INNER DETAILS ARE SHOWN IN THE GRIDVIEW BELOW!!</a:t>
            </a:r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Visual Sequence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589900-776F-4493-A112-5D88D7D6F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6" y="1461247"/>
            <a:ext cx="4050484" cy="4847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BDF9BD-7CE8-4C7C-9CD5-0B4647BAC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070" y="2792675"/>
            <a:ext cx="2682472" cy="1272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C79211-5A2E-46DF-BB55-1BD270B91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070" y="4140662"/>
            <a:ext cx="3901778" cy="1333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458974-2FF9-43A4-8F0B-FD3F65348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843" y="1715445"/>
            <a:ext cx="4732430" cy="20956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239D65-ED0A-45F8-A92A-22298B7179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7176" y="3773266"/>
            <a:ext cx="2922494" cy="253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86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1048872"/>
            <a:ext cx="11250706" cy="830997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This is simply a matter of configuration</a:t>
            </a:r>
          </a:p>
          <a:p>
            <a:r>
              <a:rPr lang="en-ZA" b="1" dirty="0">
                <a:solidFill>
                  <a:srgbClr val="C00000"/>
                </a:solidFill>
              </a:rPr>
              <a:t>The 1</a:t>
            </a:r>
            <a:r>
              <a:rPr lang="en-ZA" b="1" baseline="30000" dirty="0">
                <a:solidFill>
                  <a:srgbClr val="C00000"/>
                </a:solidFill>
              </a:rPr>
              <a:t>st</a:t>
            </a:r>
            <a:r>
              <a:rPr lang="en-ZA" b="1" dirty="0">
                <a:solidFill>
                  <a:srgbClr val="C00000"/>
                </a:solidFill>
              </a:rPr>
              <a:t>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is linked to the Order Table and filled when the form loads…..</a:t>
            </a:r>
            <a:r>
              <a:rPr lang="en-ZA" dirty="0"/>
              <a:t> taBookOrder1.Fill(dsBookApp1.BookOrder); </a:t>
            </a:r>
            <a:endParaRPr lang="en-ZA" b="1" dirty="0">
              <a:solidFill>
                <a:srgbClr val="C00000"/>
              </a:solidFill>
            </a:endParaRPr>
          </a:p>
          <a:p>
            <a:r>
              <a:rPr lang="en-ZA" b="1" dirty="0">
                <a:solidFill>
                  <a:srgbClr val="C00000"/>
                </a:solidFill>
              </a:rPr>
              <a:t>The 2</a:t>
            </a:r>
            <a:r>
              <a:rPr lang="en-ZA" b="1" baseline="30000" dirty="0">
                <a:solidFill>
                  <a:srgbClr val="C00000"/>
                </a:solidFill>
              </a:rPr>
              <a:t>nd</a:t>
            </a:r>
            <a:r>
              <a:rPr lang="en-ZA" b="1" dirty="0">
                <a:solidFill>
                  <a:srgbClr val="C00000"/>
                </a:solidFill>
              </a:rPr>
              <a:t>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is linked to the </a:t>
            </a:r>
            <a:r>
              <a:rPr lang="en-ZA" b="1" dirty="0" err="1">
                <a:solidFill>
                  <a:srgbClr val="C00000"/>
                </a:solidFill>
              </a:rPr>
              <a:t>OrderDetail</a:t>
            </a:r>
            <a:r>
              <a:rPr lang="en-ZA" b="1" dirty="0">
                <a:solidFill>
                  <a:srgbClr val="C00000"/>
                </a:solidFill>
              </a:rPr>
              <a:t> Table and only gets filled when the user clicks on a row in the 1</a:t>
            </a:r>
            <a:r>
              <a:rPr lang="en-ZA" b="1" baseline="30000" dirty="0">
                <a:solidFill>
                  <a:srgbClr val="C00000"/>
                </a:solidFill>
              </a:rPr>
              <a:t>st</a:t>
            </a:r>
            <a:r>
              <a:rPr lang="en-ZA" b="1" dirty="0">
                <a:solidFill>
                  <a:srgbClr val="C00000"/>
                </a:solidFill>
              </a:rPr>
              <a:t>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endParaRPr lang="en-ZA" b="1" dirty="0">
              <a:solidFill>
                <a:srgbClr val="C00000"/>
              </a:solidFill>
            </a:endParaRPr>
          </a:p>
          <a:p>
            <a:endParaRPr lang="en-ZA" b="1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Showing the Inner Details of the 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0C5C8E-38BF-4020-A25C-581A95E116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332"/>
          <a:stretch/>
        </p:blipFill>
        <p:spPr>
          <a:xfrm>
            <a:off x="0" y="2048572"/>
            <a:ext cx="4150659" cy="36345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EE0422D-F6B2-431E-B629-8CB34558D262}"/>
              </a:ext>
            </a:extLst>
          </p:cNvPr>
          <p:cNvSpPr/>
          <p:nvPr/>
        </p:nvSpPr>
        <p:spPr>
          <a:xfrm>
            <a:off x="4025154" y="2711688"/>
            <a:ext cx="8207188" cy="10002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ZA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Z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Z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dgvOrder_CellClick</a:t>
            </a:r>
            <a:r>
              <a:rPr lang="en-Z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Z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ZA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DataGridViewCellEventArgs</a:t>
            </a:r>
            <a:r>
              <a:rPr lang="en-ZA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taBookOrderDetail1.FillByOrderNo(dsBookApp1.OrderDetail,(</a:t>
            </a:r>
            <a:r>
              <a:rPr lang="en-ZA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ZA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dgvOrder.CurrentRow.Cells</a:t>
            </a:r>
            <a:r>
              <a:rPr lang="en-ZA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[0].Value);</a:t>
            </a:r>
            <a:endParaRPr lang="en-ZA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71085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0647" y="2393578"/>
            <a:ext cx="11250706" cy="421340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The old Invoice table …and the new one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Record of Inner Details is Complete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F090A-82CF-491E-9C31-6F0DCB676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112" y="1048872"/>
            <a:ext cx="2171888" cy="1120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59F7BC-1F04-4773-8B7C-6E93B2878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7267" y="2090739"/>
            <a:ext cx="2057578" cy="1242168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96DDD4A-F8E3-41D2-82FB-CE4FF57B07DC}"/>
              </a:ext>
            </a:extLst>
          </p:cNvPr>
          <p:cNvSpPr txBox="1">
            <a:spLocks/>
          </p:cNvSpPr>
          <p:nvPr/>
        </p:nvSpPr>
        <p:spPr>
          <a:xfrm>
            <a:off x="470647" y="941120"/>
            <a:ext cx="11250706" cy="1335740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rgbClr val="C00000"/>
                </a:solidFill>
              </a:rPr>
              <a:t>What if you wanted to enable the user to purchase a quantity greater than one</a:t>
            </a:r>
          </a:p>
          <a:p>
            <a:r>
              <a:rPr lang="en-ZA" b="1" dirty="0">
                <a:solidFill>
                  <a:srgbClr val="C00000"/>
                </a:solidFill>
              </a:rPr>
              <a:t>You can change the Invoice table by adding in a Quantity column</a:t>
            </a:r>
          </a:p>
          <a:p>
            <a:r>
              <a:rPr lang="en-ZA" b="1" dirty="0">
                <a:solidFill>
                  <a:srgbClr val="C00000"/>
                </a:solidFill>
              </a:rPr>
              <a:t>The old Invoice table …and the new one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2EF189D-9E60-4BCC-B11E-C9EF1F5D04CC}"/>
              </a:ext>
            </a:extLst>
          </p:cNvPr>
          <p:cNvSpPr txBox="1">
            <a:spLocks/>
          </p:cNvSpPr>
          <p:nvPr/>
        </p:nvSpPr>
        <p:spPr>
          <a:xfrm>
            <a:off x="228600" y="3379254"/>
            <a:ext cx="11250706" cy="421340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rgbClr val="C00000"/>
                </a:solidFill>
              </a:rPr>
              <a:t>Rebuild the application…Reset the data source for the Invoice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and the Invoice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changes from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BC1E97-7715-4F22-8844-FDA9BF612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318" y="3569554"/>
            <a:ext cx="1463167" cy="655377"/>
          </a:xfrm>
          <a:prstGeom prst="rect">
            <a:avLst/>
          </a:prstGeom>
        </p:spPr>
      </p:pic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0C53214-4A45-4797-912C-888E5E31B7D0}"/>
              </a:ext>
            </a:extLst>
          </p:cNvPr>
          <p:cNvSpPr txBox="1">
            <a:spLocks/>
          </p:cNvSpPr>
          <p:nvPr/>
        </p:nvSpPr>
        <p:spPr>
          <a:xfrm>
            <a:off x="228600" y="4481648"/>
            <a:ext cx="11250706" cy="421340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>
                <a:solidFill>
                  <a:srgbClr val="C00000"/>
                </a:solidFill>
              </a:rPr>
              <a:t>To a </a:t>
            </a:r>
            <a:r>
              <a:rPr lang="en-ZA" b="1" dirty="0" err="1">
                <a:solidFill>
                  <a:srgbClr val="C00000"/>
                </a:solidFill>
              </a:rPr>
              <a:t>Gridview</a:t>
            </a:r>
            <a:r>
              <a:rPr lang="en-ZA" b="1" dirty="0">
                <a:solidFill>
                  <a:srgbClr val="C00000"/>
                </a:solidFill>
              </a:rPr>
              <a:t> with a Quantity column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06C7DD-3AB5-4CB8-993A-817F40286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642" y="4649197"/>
            <a:ext cx="3642676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3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  <p:bldP spid="7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C22F8-D289-4B48-B350-D37A45838D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988" y="576073"/>
            <a:ext cx="11250706" cy="1273704"/>
          </a:xfrm>
        </p:spPr>
        <p:txBody>
          <a:bodyPr/>
          <a:lstStyle/>
          <a:p>
            <a:r>
              <a:rPr lang="en-ZA" b="1" dirty="0">
                <a:solidFill>
                  <a:srgbClr val="C00000"/>
                </a:solidFill>
              </a:rPr>
              <a:t>When a Book is chosen, the Book Row is added to the Invoice and the Quantity is set to 1</a:t>
            </a:r>
          </a:p>
          <a:p>
            <a:r>
              <a:rPr lang="en-ZA" b="1" dirty="0">
                <a:solidFill>
                  <a:srgbClr val="C00000"/>
                </a:solidFill>
              </a:rPr>
              <a:t>This value can be edited and changed to any quantity value that is preferred…also you need to update the Total calculation by including the Quantity field</a:t>
            </a:r>
          </a:p>
          <a:p>
            <a:r>
              <a:rPr lang="en-ZA" b="1" dirty="0">
                <a:solidFill>
                  <a:srgbClr val="C00000"/>
                </a:solidFill>
              </a:rPr>
              <a:t>Adjustments are required for the code record the sale as well because the quantity value has to be included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3"/>
            <a:ext cx="10815864" cy="526900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Adding rows to Invoice </a:t>
            </a:r>
            <a:r>
              <a:rPr lang="en-ZA" b="1" u="sng" dirty="0" err="1"/>
              <a:t>Gridview</a:t>
            </a:r>
            <a:r>
              <a:rPr lang="en-ZA" b="1" u="sng" dirty="0"/>
              <a:t> with </a:t>
            </a:r>
            <a:r>
              <a:rPr lang="en-ZA" b="1" u="sng" dirty="0">
                <a:solidFill>
                  <a:srgbClr val="FF0000"/>
                </a:solidFill>
              </a:rPr>
              <a:t>Quantity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2F8DE7C-D728-40DB-9B4A-C0F4629744DB}"/>
              </a:ext>
            </a:extLst>
          </p:cNvPr>
          <p:cNvGrpSpPr/>
          <p:nvPr/>
        </p:nvGrpSpPr>
        <p:grpSpPr>
          <a:xfrm>
            <a:off x="598905" y="1161288"/>
            <a:ext cx="10945368" cy="3560373"/>
            <a:chOff x="598905" y="1161288"/>
            <a:chExt cx="10945368" cy="356037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1553AA1-5336-4823-9199-570AF6AB1543}"/>
                </a:ext>
              </a:extLst>
            </p:cNvPr>
            <p:cNvSpPr/>
            <p:nvPr/>
          </p:nvSpPr>
          <p:spPr>
            <a:xfrm>
              <a:off x="598905" y="2136338"/>
              <a:ext cx="10945368" cy="25853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ZA" dirty="0">
                  <a:solidFill>
                    <a:srgbClr val="0000F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private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</a:t>
              </a:r>
              <a:r>
                <a:rPr lang="en-ZA" dirty="0">
                  <a:solidFill>
                    <a:srgbClr val="0000F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double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</a:t>
              </a:r>
              <a:r>
                <a:rPr lang="en-ZA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getTotal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()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{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 </a:t>
              </a:r>
              <a:r>
                <a:rPr lang="en-ZA" dirty="0">
                  <a:solidFill>
                    <a:srgbClr val="0000F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double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sum = 0;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 </a:t>
              </a:r>
              <a:r>
                <a:rPr lang="en-ZA" dirty="0">
                  <a:solidFill>
                    <a:srgbClr val="0000F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for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(</a:t>
              </a:r>
              <a:r>
                <a:rPr lang="en-ZA" dirty="0">
                  <a:solidFill>
                    <a:srgbClr val="0000F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int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</a:t>
              </a:r>
              <a:r>
                <a:rPr lang="en-ZA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i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= 0; </a:t>
              </a:r>
              <a:r>
                <a:rPr lang="en-ZA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i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&lt; dsBookApp1.Invoice.Rows.Count; </a:t>
              </a:r>
              <a:r>
                <a:rPr lang="en-ZA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i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++)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 {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  </a:t>
              </a:r>
              <a:r>
                <a:rPr lang="en-ZA" sz="1200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sum += </a:t>
              </a:r>
              <a:r>
                <a:rPr lang="en-ZA" sz="1200" dirty="0" err="1">
                  <a:solidFill>
                    <a:srgbClr val="2B91A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Convert</a:t>
              </a:r>
              <a:r>
                <a:rPr lang="en-ZA" sz="12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.ToDouble</a:t>
              </a:r>
              <a:r>
                <a:rPr lang="en-ZA" sz="1200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(dsBookApp1.Invoice.Rows[</a:t>
              </a:r>
              <a:r>
                <a:rPr lang="en-ZA" sz="12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i</a:t>
              </a:r>
              <a:r>
                <a:rPr lang="en-ZA" sz="1200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][1])* </a:t>
              </a:r>
              <a:r>
                <a:rPr lang="en-ZA" sz="1200" dirty="0">
                  <a:solidFill>
                    <a:srgbClr val="2B91A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Convert</a:t>
              </a:r>
              <a:r>
                <a:rPr lang="en-ZA" sz="1200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.ToInt16(dsBookApp1.Invoice.Rows[</a:t>
              </a:r>
              <a:r>
                <a:rPr lang="en-ZA" sz="12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i</a:t>
              </a:r>
              <a:r>
                <a:rPr lang="en-ZA" sz="1200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][2]);</a:t>
              </a:r>
              <a:endParaRPr lang="en-ZA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endParaRP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 }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 </a:t>
              </a:r>
              <a:r>
                <a:rPr lang="en-ZA" dirty="0">
                  <a:solidFill>
                    <a:srgbClr val="0000FF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return</a:t>
              </a:r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 sum;</a:t>
              </a:r>
            </a:p>
            <a:p>
              <a:r>
                <a:rPr lang="en-ZA" dirty="0">
                  <a:solidFill>
                    <a:srgbClr val="000000"/>
                  </a:solidFill>
                  <a:highlight>
                    <a:srgbClr val="FFFFFF"/>
                  </a:highlight>
                  <a:latin typeface="Cascadia Mono" panose="020B0609020000020004" pitchFamily="49" charset="0"/>
                </a:rPr>
                <a:t>}</a:t>
              </a:r>
              <a:endParaRPr lang="en-ZA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AD7271C-4952-4847-A77D-46E7C76D4B97}"/>
                </a:ext>
              </a:extLst>
            </p:cNvPr>
            <p:cNvCxnSpPr/>
            <p:nvPr/>
          </p:nvCxnSpPr>
          <p:spPr>
            <a:xfrm>
              <a:off x="9592056" y="1161288"/>
              <a:ext cx="91440" cy="23774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8829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3560E8-761E-40D9-B650-32747B87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09" y="49172"/>
            <a:ext cx="10815864" cy="830997"/>
          </a:xfrm>
          <a:solidFill>
            <a:schemeClr val="accent2">
              <a:lumMod val="10000"/>
              <a:lumOff val="90000"/>
            </a:schemeClr>
          </a:solidFill>
        </p:spPr>
        <p:txBody>
          <a:bodyPr/>
          <a:lstStyle/>
          <a:p>
            <a:pPr algn="ctr"/>
            <a:r>
              <a:rPr lang="en-ZA" b="1" u="sng" dirty="0"/>
              <a:t>The code to record the Order with Quantity Included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727BF-FC5A-4026-AE45-2FD4115D2147}"/>
              </a:ext>
            </a:extLst>
          </p:cNvPr>
          <p:cNvSpPr/>
          <p:nvPr/>
        </p:nvSpPr>
        <p:spPr>
          <a:xfrm>
            <a:off x="265714" y="905232"/>
            <a:ext cx="11926286" cy="4355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btnRecordSale_Click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sender,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e)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ZA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pk;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DialogResult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 =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.Show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"Do you want to Confirm?"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"Confirmation"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MessageBoxButtons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.YesNoCancel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(result ==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DialogResult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.Yes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pk = (</a:t>
            </a:r>
            <a:r>
              <a:rPr lang="en-ZA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)taBookOrder1.InsertQueryPK(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.Now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.Parse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NumberStyles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.Currency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MessageBox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.Show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"The Order for a Total Amount of 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txtAmtOwing.Text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"has been Confirmed and the PK is 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pk);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taBookOrder1.Fill(dsBookApp1.BookOrder);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//to fill the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gridview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with the newly recorded order so that it can be viewed</a:t>
            </a:r>
            <a:endParaRPr lang="en-US" sz="1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dgvBookInvoice.Rows.Count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- 1;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//record the inner detail of the Order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{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ZA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bkID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].Cells[0].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Value.ToString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bkPrice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].Cells[1].Value);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ZA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bkQty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ZA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.ToInt32((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dgvBookInvoice.Rows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].Cells[2].Value));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taBookOrderDetail1.Insert(pk,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bkID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bkQty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bkPrice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//the assumption is made that the quantity for the purchase is 1 – we can always change this at a later stage…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}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}</a:t>
            </a:r>
          </a:p>
          <a:p>
            <a:r>
              <a:rPr lang="en-ZA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sz="1400" dirty="0"/>
          </a:p>
        </p:txBody>
      </p:sp>
    </p:spTree>
    <p:extLst>
      <p:ext uri="{BB962C8B-B14F-4D97-AF65-F5344CB8AC3E}">
        <p14:creationId xmlns:p14="http://schemas.microsoft.com/office/powerpoint/2010/main" val="4187057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04_Educati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2606E"/>
      </a:accent1>
      <a:accent2>
        <a:srgbClr val="0F3955"/>
      </a:accent2>
      <a:accent3>
        <a:srgbClr val="FFC000"/>
      </a:accent3>
      <a:accent4>
        <a:srgbClr val="BF678E"/>
      </a:accent4>
      <a:accent5>
        <a:srgbClr val="731F1C"/>
      </a:accent5>
      <a:accent6>
        <a:srgbClr val="7A9E56"/>
      </a:accent6>
      <a:hlink>
        <a:srgbClr val="00B0F0"/>
      </a:hlink>
      <a:folHlink>
        <a:srgbClr val="595959"/>
      </a:folHlink>
    </a:clrScheme>
    <a:fontScheme name="MSFT_04_Education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475556_Education presentation_AAS_v5" id="{AAC57104-7B60-491F-A321-6BCAF93AC541}" vid="{5A43072C-36E0-4A5A-A3FF-E88D65C5976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575C36-314A-42CB-9114-6E0CE4AB273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1C32B5E-029E-455A-86F0-091666CEEB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D0AD3E-9DDB-4E69-981A-7DAE0E9B5F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Education presentation</Template>
  <TotalTime>0</TotalTime>
  <Words>2754</Words>
  <Application>Microsoft Office PowerPoint</Application>
  <PresentationFormat>Widescreen</PresentationFormat>
  <Paragraphs>213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Cascadia Mono</vt:lpstr>
      <vt:lpstr>Corbel</vt:lpstr>
      <vt:lpstr>Office Theme</vt:lpstr>
      <vt:lpstr>Windows Forms- DB Processing </vt:lpstr>
      <vt:lpstr>About these notes!!</vt:lpstr>
      <vt:lpstr>The Book Sale App</vt:lpstr>
      <vt:lpstr>The Interface</vt:lpstr>
      <vt:lpstr>The Search and Update</vt:lpstr>
      <vt:lpstr>An Invoice DataTable</vt:lpstr>
      <vt:lpstr>Rebuild the Application to get the Data Adapters</vt:lpstr>
      <vt:lpstr>The Book Data and the Book Search</vt:lpstr>
      <vt:lpstr>The Display and Search</vt:lpstr>
      <vt:lpstr>Let us also do the Update of Stock</vt:lpstr>
      <vt:lpstr>Adding Books to an Invoice</vt:lpstr>
      <vt:lpstr>A Better Version of adding rows to the dynamic Invoice Gridview</vt:lpstr>
      <vt:lpstr>Calculate the Total for the Invoice</vt:lpstr>
      <vt:lpstr>Clearing Rows from the Invoice</vt:lpstr>
      <vt:lpstr>Recording a Sale Transaction</vt:lpstr>
      <vt:lpstr>The Configuration</vt:lpstr>
      <vt:lpstr>The Code to Record the Main Transaction AND the Inner Details - Explanation</vt:lpstr>
      <vt:lpstr>The Code to Record a Sale and return the PK of the New Sale/Order record …and a for loop to record the Inner Detail of the Order</vt:lpstr>
      <vt:lpstr>Things to Take Note of</vt:lpstr>
      <vt:lpstr>The Visual Sequence</vt:lpstr>
      <vt:lpstr>Showing the Inner Details of the Order</vt:lpstr>
      <vt:lpstr>Record of Inner Details is Complete</vt:lpstr>
      <vt:lpstr>Adding rows to Invoice Gridview with Quantity</vt:lpstr>
      <vt:lpstr>The code to record the Order with Quantity Included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2023-04-05T20:30:44Z</dcterms:created>
  <dcterms:modified xsi:type="dcterms:W3CDTF">2026-05-21T13:42:59Z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